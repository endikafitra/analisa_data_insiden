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D9482B"/>
              </a:solidFill>
            </c:spPr>
          </c:dPt>
          <c:dPt>
            <c:idx val="1"/>
            <c:spPr>
              <a:solidFill>
                <a:srgbClr val="A7B0BC"/>
              </a:solidFill>
            </c:spPr>
          </c:dPt>
          <c:cat>
            <c:strRef>
              <c:f>Sheet1!$A$2:$A$3</c:f>
              <c:strCache>
                <c:ptCount val="2"/>
                <c:pt idx="0">
                  <c:v>Ada faktor pekerjaan (n=27)</c:v>
                </c:pt>
                <c:pt idx="1">
                  <c:v>Tanpa faktor pekerjaan (n=35)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1.9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8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3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A7B0BC"/>
              </a:solidFill>
            </c:spPr>
          </c:dPt>
          <c:dPt>
            <c:idx val="1"/>
            <c:spPr>
              <a:solidFill>
                <a:srgbClr val="142B4C"/>
              </a:solidFill>
            </c:spPr>
          </c:dPt>
          <c:cat>
            <c:strRef>
              <c:f>Sheet1!$A$2:$A$3</c:f>
              <c:strCache>
                <c:ptCount val="2"/>
                <c:pt idx="0">
                  <c:v>Sebelum 12:00 (n=33)</c:v>
                </c:pt>
                <c:pt idx="1">
                  <c:v>12:00 atau setelahnya (n=29)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0.15151515151515152</c:v>
                </c:pt>
                <c:pt idx="1">
                  <c:v>0.8275862068965517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8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3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ini merangkum hasil korelasi_data_incident.ipynb beserta uji lanjutan (korelasi parsial, uji Fisher, pembacaan teks faktor &amp; tindakan perbaikan).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Pesan utama: korelasi tertinggi di data bukan temuan; nilai K3 ada pada pola investigasi.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Temuan 2 (ρ = −0,28, tindakan vs kondisi tidak aman) tidak termasuk 23 pasangan signifikan FDR; ia muncul dari uji lanjutan pada 61 insiden dan diperlakukan sebagai indikasi.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Korelasi parsial (Spearman via ranking) n_faktor_pekerjaan vs n_tindakan_perbaikan: 0,62 dikontrol faktor lain; 0,60 dikontrol faktor lain + tahun.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kutipan diambil langsung dari kolom tindakan_perbaikan di Data_Incident_clean.csv.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ρ = −0,28 dihitung pada 61 insiden yang mendokumentasikan faktor (p = 0,03); pada seluruh 62 insiden ρ = −0,25 (p = 0,05). Indikasi, bukan kesimpulan pasti. ns = tidak signifikan.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Uji Fisher jam ≥ 12 vs lag ≥ 1: odds ratio 26,9; p = 1,1e-7. Kasus lag ≥ 2: INC/SBY/2025/010 (Sabtu, 4 hari), INC/SBY/2021/012 (Minggu, 3 hari), INC/SBY/2021/004 (Selasa 17:00, 2 hari).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48840"/>
            <a:ext cx="822960" cy="73152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Analisis Korelasi Data Insiden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C9D3E0"/>
                </a:solidFill>
                <a:latin typeface="Arial"/>
              </a:rPr>
              <a:t>Apa yang benar-benar dikatakan data, dan apa yang hanya artefak pencatatan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9D3E0"/>
                </a:solidFill>
                <a:latin typeface="Arial"/>
              </a:rPr>
              <a:t>Unit SBY  ·  62 insiden  ·  2021–2026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C9D3E0"/>
                </a:solidFill>
                <a:latin typeface="Arial"/>
              </a:rPr>
              <a:t>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RINGKASAN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Satu temuan kuat, satu indikasi, dan satu miskonsepsi yang perlu diluruskan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15258" cy="4023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15258" cy="82296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D9482B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42B4C"/>
                </a:solidFill>
                <a:latin typeface="Arial"/>
              </a:rPr>
              <a:t>Penyebab sistemik → perbaikan lebih kuat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2937"/>
                </a:solidFill>
                <a:latin typeface="Arial"/>
              </a:rPr>
              <a:t>Insiden dengan faktor pekerjaan rata-rata punya 4.3 tindakan perbaikan, vs 1.9 tanpa faktor pekerjaan. 35 dari 62 insiden tidak mencatat faktor pekerjaan sama sekali.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920240"/>
            <a:ext cx="3515258" cy="4023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920240"/>
            <a:ext cx="3515258" cy="82296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8258" y="22860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D9482B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3063240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42B4C"/>
                </a:solidFill>
                <a:latin typeface="Arial"/>
              </a:rPr>
              <a:t>Investigasi cenderung memilih satu jalur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258" y="4114800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2937"/>
                </a:solidFill>
                <a:latin typeface="Arial"/>
              </a:rPr>
              <a:t>Tindakan tidak aman dan kondisi tidak aman berkorelasi negatif (ρ = −0,28): penyebab "orang" dan "kondisi" jarang dicatat bersamaan.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1920240"/>
            <a:ext cx="3515258" cy="4023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7796" y="1920240"/>
            <a:ext cx="3515258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7836" y="22860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F7A8C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7836" y="3063240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42B4C"/>
                </a:solidFill>
                <a:latin typeface="Arial"/>
              </a:rPr>
              <a:t>Pelaporan umumnya tepat waktu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4114800"/>
            <a:ext cx="287517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F2937"/>
                </a:solidFill>
                <a:latin typeface="Arial"/>
              </a:rPr>
              <a:t>95% insiden dilaporkan ≤ 1 hari kalender. "Keterlambatan" sore hari adalah efek pencatatan tanggal, bukan keterlambatan nyata.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DATA &amp; METODE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Ukuran asosiasi dipilih sesuai jenis variabel, lalu dikoreksi untuk uji berganda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42B4C"/>
                </a:solidFill>
                <a:latin typeface="Arial"/>
              </a:rP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48640" cy="45720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45429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62 insiden, unit SBY, 2021–2026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21 variabel: 9 numerik, 12 kategorik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Kolom konstan &amp; hampir konstan dibuang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Kategori dengan &lt; 5 kasus digabung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192024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42B4C"/>
                </a:solidFill>
                <a:latin typeface="Arial"/>
              </a:rPr>
              <a:t>Ukuran asosiasi (skala 0–1)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2423160"/>
            <a:ext cx="548640" cy="45720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8698" y="2697480"/>
            <a:ext cx="345429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Numerik × numerik: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Spearman |ρ|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Kategorik × kategorik: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Cramér's V terkoreksi bias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Numerik × kategorik: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correlation ratio 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8756" y="192024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42B4C"/>
                </a:solidFill>
                <a:latin typeface="Arial"/>
              </a:rPr>
              <a:t>Pengendalian kesalahan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8756" y="2423160"/>
            <a:ext cx="548640" cy="45720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8756" y="2697480"/>
            <a:ext cx="345429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210 pasangan diuji sekaligus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p-value dikoreksi FDR Benjamini–Hochberg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Pasangan yang berhubungan karena definisi ditandai "struktural"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Uji lanjutan: korelasi parsial &amp; uji Fisher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PETA TEMUAN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Dari 210 pasangan, hanya 1 yang tetap kuat sebagai temuan K3 setelah diuji ulang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4206240" cy="86868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74519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pasangan variabel diuji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53511"/>
            <a:ext cx="3364992" cy="86868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1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2953511"/>
            <a:ext cx="30358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signifikan setelah koreksi FDR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32503"/>
            <a:ext cx="2523744" cy="8686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32503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4032503"/>
            <a:ext cx="387705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bukan hubungan struktural (definisi/turunan)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11495"/>
            <a:ext cx="1682496" cy="868680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11495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5111495"/>
            <a:ext cx="4718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temuan K3 yang kuat setelah diuji ulang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1874519"/>
            <a:ext cx="4144975" cy="41148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2103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42B4C"/>
                </a:solidFill>
                <a:latin typeface="Arial"/>
              </a:rPr>
              <a:t>Isi 10 pasangan non-struktural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651760"/>
            <a:ext cx="350489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300" b="1" i="0">
                <a:solidFill>
                  <a:srgbClr val="1F2937"/>
                </a:solidFill>
                <a:latin typeface="Arial"/>
              </a:rPr>
              <a:t>5 artefak: </a:t>
            </a:r>
            <a:r>
              <a:rPr sz="1300" b="0" i="0">
                <a:solidFill>
                  <a:srgbClr val="1F2937"/>
                </a:solidFill>
                <a:latin typeface="Arial"/>
              </a:rPr>
              <a:t>tanggal kalender (2), sistem pelaporan (2), CAPA tahun berjalan (1)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300" b="1" i="0">
                <a:solidFill>
                  <a:srgbClr val="1F2937"/>
                </a:solidFill>
                <a:latin typeface="Arial"/>
              </a:rPr>
              <a:t>2 pola formulir: </a:t>
            </a:r>
            <a:r>
              <a:rPr sz="1300" b="0" i="0">
                <a:solidFill>
                  <a:srgbClr val="1F2937"/>
                </a:solidFill>
                <a:latin typeface="Arial"/>
              </a:rPr>
              <a:t>penyebab langsung yang memang dipasangkan dengan penyebab dasar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300" b="1" i="0">
                <a:solidFill>
                  <a:srgbClr val="1F2937"/>
                </a:solidFill>
                <a:latin typeface="Arial"/>
              </a:rPr>
              <a:t>1 turunan: </a:t>
            </a:r>
            <a:r>
              <a:rPr sz="1300" b="0" i="0">
                <a:solidFill>
                  <a:srgbClr val="1F2937"/>
                </a:solidFill>
                <a:latin typeface="Arial"/>
              </a:rPr>
              <a:t>kondisi tidak aman × perbaikan, bagian dari temuan utama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300" b="1" i="0">
                <a:solidFill>
                  <a:srgbClr val="1F2937"/>
                </a:solidFill>
                <a:latin typeface="Arial"/>
              </a:rPr>
              <a:t>1 indikasi lemah: </a:t>
            </a:r>
            <a:r>
              <a:rPr sz="1300" b="0" i="0">
                <a:solidFill>
                  <a:srgbClr val="1F2937"/>
                </a:solidFill>
                <a:latin typeface="Arial"/>
              </a:rPr>
              <a:t>Fire Incident × kondisi tidak aman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300" b="1" i="0">
                <a:solidFill>
                  <a:srgbClr val="D9482B"/>
                </a:solidFill>
                <a:latin typeface="Arial"/>
              </a:rPr>
              <a:t>1 temuan utama: </a:t>
            </a:r>
            <a:r>
              <a:rPr sz="1300" b="0" i="0">
                <a:solidFill>
                  <a:srgbClr val="1F2937"/>
                </a:solidFill>
                <a:latin typeface="Arial"/>
              </a:rPr>
              <a:t>faktor pekerjaan × tindakan perbaikan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TEMUAN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Bila investigasi menemukan faktor pekerjaan, tindakan perbaikan lebih dari 2× lebih banyak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778"/>
                </a:solidFill>
                <a:latin typeface="Arial"/>
              </a:rPr>
              <a:t>Rata-rata jumlah tindakan perbaikan per insiden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D9482B"/>
                </a:solidFill>
                <a:latin typeface="Arial"/>
              </a:rPr>
              <a:t>ρ = 0,68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56032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778"/>
                </a:solidFill>
                <a:latin typeface="Arial"/>
              </a:rPr>
              <a:t>korelasi terkuat di seluruh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2880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42B4C"/>
                </a:solidFill>
                <a:latin typeface="Arial"/>
              </a:rPr>
              <a:t>ρ = 0,60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56032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778"/>
                </a:solidFill>
                <a:latin typeface="Arial"/>
              </a:rPr>
              <a:t>tetap kuat setelah dikontrol faktor lain &amp; tahun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611880"/>
            <a:ext cx="4602175" cy="27432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840480"/>
            <a:ext cx="460217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937"/>
                </a:solidFill>
                <a:latin typeface="Arial"/>
              </a:rPr>
              <a:t>Faktor penyebab lain hanya berkorelasi ρ = 0,30–0,37 dengan jumlah perbaikan. </a:t>
            </a:r>
            <a:r>
              <a:rPr sz="1500" b="1" i="0">
                <a:solidFill>
                  <a:srgbClr val="1F2937"/>
                </a:solidFill>
                <a:latin typeface="Arial"/>
              </a:rPr>
              <a:t>Jadi ini bukan sekadar "investigasi yang lebih rajin menulis lebih banyak".</a:t>
            </a:r>
          </a:p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1F2937"/>
                </a:solidFill>
                <a:latin typeface="Arial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D9482B"/>
                </a:solidFill>
                <a:latin typeface="Arial"/>
              </a:rPr>
              <a:t>35 dari 62 insiden (56%) tidak mencatat faktor pekerjaan sama sekali.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TEMUAN 1 — LANJUTAN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Yang berbeda bukan hanya jumlahnya, tetapi juga kekuatan pengendaliannya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64327" cy="4297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4297680"/>
          </a:xfrm>
          <a:prstGeom prst="rect">
            <a:avLst/>
          </a:prstGeom>
          <a:solidFill>
            <a:srgbClr val="A7B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42B4C"/>
                </a:solidFill>
                <a:latin typeface="Arial"/>
              </a:rPr>
              <a:t>Tanpa faktor pekerjaan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4724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5B6778"/>
                </a:solidFill>
                <a:latin typeface="Arial"/>
              </a:rPr>
              <a:t>Perbaikan berfokus pada orang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724247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1">
                <a:solidFill>
                  <a:srgbClr val="1F2937"/>
                </a:solidFill>
                <a:latin typeface="Arial"/>
              </a:rPr>
              <a:t>"Training keselamatan berkendara"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1">
                <a:solidFill>
                  <a:srgbClr val="1F2937"/>
                </a:solidFill>
                <a:latin typeface="Arial"/>
              </a:rPr>
              <a:t>"Sosialisasi keselamatan berkendara"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1">
                <a:solidFill>
                  <a:srgbClr val="1F2937"/>
                </a:solidFill>
                <a:latin typeface="Arial"/>
              </a:rPr>
              <a:t>"Re-sosialisasi keselamatan kerja dekat benda berputar"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4724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778"/>
                </a:solidFill>
                <a:latin typeface="Arial"/>
              </a:rPr>
              <a:t>Pengendalian administratif: paling lemah dalam hierarki pengendalian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828800"/>
            <a:ext cx="5364327" cy="4297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8727" y="1828800"/>
            <a:ext cx="91440" cy="4297680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2103120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42B4C"/>
                </a:solidFill>
                <a:latin typeface="Arial"/>
              </a:rPr>
              <a:t>Faktor pekerjaan ≥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578608"/>
            <a:ext cx="4724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9482B"/>
                </a:solidFill>
                <a:latin typeface="Arial"/>
              </a:rPr>
              <a:t>Perbaikan berfokus pada sistem &amp; peralatan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487" y="3108960"/>
            <a:ext cx="4724247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1">
                <a:solidFill>
                  <a:srgbClr val="1F2937"/>
                </a:solidFill>
                <a:latin typeface="Arial"/>
              </a:rPr>
              <a:t>"Pengadaan harmonic filter untuk outgoing trafo 2"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1">
                <a:solidFill>
                  <a:srgbClr val="1F2937"/>
                </a:solidFill>
                <a:latin typeface="Arial"/>
              </a:rPr>
              <a:t>"Modifikasi baseplate dengan penambahan plat"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1">
                <a:solidFill>
                  <a:srgbClr val="1F2937"/>
                </a:solidFill>
                <a:latin typeface="Arial"/>
              </a:rPr>
              <a:t>"Pemasangan skylight protector"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1">
                <a:solidFill>
                  <a:srgbClr val="1F2937"/>
                </a:solidFill>
                <a:latin typeface="Arial"/>
              </a:rPr>
              <a:t>"Pembuatan instruksi kerja standarisasi ampere"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5349240"/>
            <a:ext cx="4724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778"/>
                </a:solidFill>
                <a:latin typeface="Arial"/>
              </a:rPr>
              <a:t>Pengendalian rekayasa + prosedur: lebih efektif mencegah kejadian berulang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TEMUAN 2 — INDIKASI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Investigasi cenderung menyalahkan "orang" atau "kondisi", jarang keduanya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Faktor pribadi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Tindakan tidak aman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03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Faktor pekerjaan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434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43484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Kondisi tidak aman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.0" y="3017520"/>
            <a:ext cx="0.0" cy="1417320"/>
          </a:xfrm>
          <a:prstGeom prst="line">
            <a:avLst/>
          </a:prstGeom>
          <a:ln w="38100">
            <a:solidFill>
              <a:srgbClr val="14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74520" y="34290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42B4C"/>
                </a:solidFill>
                <a:latin typeface="Arial"/>
              </a:rPr>
              <a:t>ρ = +0,57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0.0" y="3017520"/>
            <a:ext cx="0.0" cy="1417320"/>
          </a:xfrm>
          <a:prstGeom prst="line">
            <a:avLst/>
          </a:prstGeom>
          <a:ln w="38100">
            <a:solidFill>
              <a:srgbClr val="1F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06440" y="34290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F7A8C"/>
                </a:solidFill>
                <a:latin typeface="Arial"/>
              </a:rPr>
              <a:t>ρ = +0,48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4892040.0"/>
            <a:ext cx="1554480" cy="0.0"/>
          </a:xfrm>
          <a:prstGeom prst="line">
            <a:avLst/>
          </a:prstGeom>
          <a:ln w="38100">
            <a:solidFill>
              <a:srgbClr val="D948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26080" y="445312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D9482B"/>
                </a:solidFill>
                <a:latin typeface="Arial"/>
              </a:rPr>
              <a:t>ρ = −0,28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2560320.0"/>
            <a:ext cx="1554480" cy="0.0"/>
          </a:xfrm>
          <a:prstGeom prst="line">
            <a:avLst/>
          </a:prstGeom>
          <a:ln w="38100">
            <a:solidFill>
              <a:srgbClr val="A7B0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26080" y="21488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5B6778"/>
                </a:solidFill>
                <a:latin typeface="Arial"/>
              </a:rPr>
              <a:t>ρ = +0,13 (ns)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20240"/>
            <a:ext cx="4236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42B4C"/>
                </a:solidFill>
                <a:latin typeface="Arial"/>
              </a:rPr>
              <a:t>Cara membacanya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468880"/>
            <a:ext cx="42364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1" i="0">
                <a:solidFill>
                  <a:srgbClr val="1F2937"/>
                </a:solidFill>
                <a:latin typeface="Arial"/>
              </a:rPr>
              <a:t>Garis vertikal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sebagian besar mencerminkan formulir (model ILCI/Bird) yang memang memasangkan penyebab langsung dengan penyebab dasar.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1" i="0">
                <a:solidFill>
                  <a:srgbClr val="D9482B"/>
                </a:solidFill>
                <a:latin typeface="Arial"/>
              </a:rPr>
              <a:t>Garis merah adalah temuannya: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insiden yang banyak mencatat tindakan tidak aman justru sedikit mencatat kondisi tidak aman.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1" i="0">
                <a:solidFill>
                  <a:srgbClr val="1F2937"/>
                </a:solidFill>
                <a:latin typeface="Arial"/>
              </a:rPr>
              <a:t>Model Swiss Cheese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mengasumsikan insiden hampir selalu punya penyebab ganda. Pola ini mengindikasikan bias investigasi satu jalur.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TEMUAN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"Keterlambatan" pelaporan sore hari adalah efek tanggal kalender, bukan keterlambatan nyata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8308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778"/>
                </a:solidFill>
                <a:latin typeface="Arial"/>
              </a:rPr>
              <a:t>Porsi insiden yang dilaporkan pada tanggal berikutnya (lag ≥ 1 hari)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F7A8C"/>
                </a:solidFill>
                <a:latin typeface="Arial"/>
              </a:rP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56032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778"/>
                </a:solidFill>
                <a:latin typeface="Arial"/>
              </a:rPr>
              <a:t>insiden dilaporkan ≤ 1 hari kalender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82880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D9482B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56032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778"/>
                </a:solidFill>
                <a:latin typeface="Arial"/>
              </a:rPr>
              <a:t>kasus benar-benar lambat (≥ 2 hari), 2 di akhir pekan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611880"/>
            <a:ext cx="4602175" cy="27432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840480"/>
            <a:ext cx="460217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Lag dihitung dari tanggal, bukan jam: kejadian 16:00 yang dilaporkan besok pagi tercatat 1 hari.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Batasnya sekitar pukul 12:00, bukan pergantian shift.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D9482B"/>
                </a:solidFill>
                <a:latin typeface="Arial"/>
              </a:rPr>
              <a:t>• 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Pola konsisten di setiap tahun 2023–2026.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INTERPRETASI HATI-HATI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Beberapa hasil signifikan tidak menggambarkan risiko operasional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4415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760720"/>
                <a:gridCol w="259049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Temuan statistik</a:t>
                      </a:r>
                    </a:p>
                  </a:txBody>
                  <a:tcPr marL="137160" marR="137160" anchor="ctr">
                    <a:solidFill>
                      <a:srgbClr val="142B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Penjelasan sebenarnya</a:t>
                      </a:r>
                    </a:p>
                  </a:txBody>
                  <a:tcPr marL="137160" marR="137160" anchor="ctr">
                    <a:solidFill>
                      <a:srgbClr val="142B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Tindakan</a:t>
                      </a:r>
                    </a:p>
                  </a:txBody>
                  <a:tcPr marL="137160" marR="137160" anchor="ctr">
                    <a:solidFill>
                      <a:srgbClr val="142B4C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2B4C"/>
                          </a:solidFill>
                          <a:latin typeface="Arial"/>
                        </a:rPr>
                        <a:t>Tahun × status CAPA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Semua CAPA Open/Overdue berasal dari 2026; insiden terbaru wajar belum selesai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Pantau 1 CAPA Overdue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2B4C"/>
                          </a:solidFill>
                          <a:latin typeface="Arial"/>
                        </a:rPr>
                        <a:t>Tahun × sumber laporan</a:t>
                      </a:r>
                    </a:p>
                  </a:txBody>
                  <a:tcPr marL="137160" marR="13716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Perubahan sistem: 2022 semua Unknown, 2023 sempat Android, lainnya Web</a:t>
                      </a:r>
                    </a:p>
                  </a:txBody>
                  <a:tcPr marL="137160" marR="13716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Tidak perlu</a:t>
                      </a:r>
                    </a:p>
                  </a:txBody>
                  <a:tcPr marL="137160" marR="137160" anchor="ctr">
                    <a:solidFill>
                      <a:srgbClr val="F3F5F8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2B4C"/>
                          </a:solidFill>
                          <a:latin typeface="Arial"/>
                        </a:rPr>
                        <a:t>Kategori × sumber laporan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Turunan dari baris di atas: 4 laporan Android semuanya Environmental (2023)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Tidak perlu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2B4C"/>
                          </a:solidFill>
                          <a:latin typeface="Arial"/>
                        </a:rPr>
                        <a:t>Fire × kondisi tidak aman</a:t>
                      </a:r>
                    </a:p>
                  </a:txBody>
                  <a:tcPr marL="137160" marR="13716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14/14 Fire Incident mencatat kondisi tidak aman; kekuatan sedang, p dekat batas</a:t>
                      </a:r>
                    </a:p>
                  </a:txBody>
                  <a:tcPr marL="137160" marR="13716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Konfirmasi dengan data lebih banyak</a:t>
                      </a:r>
                    </a:p>
                  </a:txBody>
                  <a:tcPr marL="137160" marR="137160" anchor="ctr">
                    <a:solidFill>
                      <a:srgbClr val="F3F5F8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42B4C"/>
                          </a:solidFill>
                          <a:latin typeface="Arial"/>
                        </a:rPr>
                        <a:t>Department, bulan, hari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Tidak signifikan ≠ tidak ada pola: n = 62 terlalu kecil untuk menilai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Arial"/>
                        </a:rPr>
                        <a:t>Jangan disimpulkan "merata"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778"/>
                </a:solidFill>
                <a:latin typeface="Arial"/>
              </a:rPr>
              <a:t>Batasan umum: n = 62, satu unit; variabel n_* menghitung jumlah poin yang ditulis, bukan jumlah penyebab; asosiasi ≠ sebab-akibat.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9482B"/>
                </a:solidFill>
                <a:latin typeface="Arial"/>
              </a:rPr>
              <a:t>REKOMENDASI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2B4C"/>
                </a:solidFill>
                <a:latin typeface="Arial"/>
              </a:rPr>
              <a:t>Fokus perbaikan ada pada kualitas investigasi, bukan pada jumlah insiden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36192"/>
            <a:ext cx="11094415" cy="0"/>
          </a:xfrm>
          <a:prstGeom prst="line">
            <a:avLst/>
          </a:prstGeom>
          <a:ln w="12700">
            <a:solidFill>
              <a:srgbClr val="D9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Analisis Korelasi Data Insiden K3  ·  Unit SBY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5B6778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94415" cy="80467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685800" cy="804672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685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0195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42B4C"/>
                </a:solidFill>
                <a:latin typeface="Arial"/>
              </a:rPr>
              <a:t>Tinjau ulang insiden tanpa faktor pekerjaan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402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Arial"/>
              </a:rPr>
              <a:t>35 insiden: apakah memang tidak ada penyebab sistemik, atau investigasi berhenti di level individu?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1783080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5B6778"/>
                </a:solidFill>
                <a:latin typeface="Arial"/>
              </a:rPr>
              <a:t>Temuan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60904"/>
            <a:ext cx="11094415" cy="80467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60904"/>
            <a:ext cx="685800" cy="804672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60904"/>
            <a:ext cx="685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7977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42B4C"/>
                </a:solidFill>
                <a:latin typeface="Arial"/>
              </a:rPr>
              <a:t>Wajibkan penilaian dua jalur penyebab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181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Arial"/>
              </a:rPr>
              <a:t>Setiap investigasi menilai perilaku DAN kondisi/sistem sebelum ditutup.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2660904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5B6778"/>
                </a:solidFill>
                <a:latin typeface="Arial"/>
              </a:rPr>
              <a:t>Temuan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38728"/>
            <a:ext cx="11094415" cy="80467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38728"/>
            <a:ext cx="685800" cy="804672"/>
          </a:xfrm>
          <a:prstGeom prst="rect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38728"/>
            <a:ext cx="685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6576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42B4C"/>
                </a:solidFill>
                <a:latin typeface="Arial"/>
              </a:rPr>
              <a:t>Naikkan kualitas CAPA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9592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Arial"/>
              </a:rPr>
              <a:t>Batasi CAPA yang hanya berupa training/sosialisasi; utamakan rekayasa dan prosedur.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3538728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5B6778"/>
                </a:solidFill>
                <a:latin typeface="Arial"/>
              </a:rPr>
              <a:t>Temuan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16552"/>
            <a:ext cx="11094415" cy="80467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16552"/>
            <a:ext cx="685800" cy="804672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16552"/>
            <a:ext cx="685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53542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42B4C"/>
                </a:solidFill>
                <a:latin typeface="Arial"/>
              </a:rPr>
              <a:t>Catat jam pelaporan &amp; perjelas prosedur akhir pekan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87375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Arial"/>
              </a:rPr>
              <a:t>Agar keterlambatan bisa diukur dalam jam; 2 dari 3 kasus lambat terjadi di akhir pekan.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8575" y="4416552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5B6778"/>
                </a:solidFill>
                <a:latin typeface="Arial"/>
              </a:rPr>
              <a:t>Temuan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94376"/>
            <a:ext cx="11094415" cy="80467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294376"/>
            <a:ext cx="685800" cy="804672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94376"/>
            <a:ext cx="6858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41324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42B4C"/>
                </a:solidFill>
                <a:latin typeface="Arial"/>
              </a:rPr>
              <a:t>Tindak lanjuti CAPA Overdue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75157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Arial"/>
              </a:rPr>
              <a:t>Satu CAPA sudah melewati tenggat.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8575" y="5294376"/>
            <a:ext cx="13716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5B6778"/>
                </a:solidFill>
                <a:latin typeface="Arial"/>
              </a:rPr>
              <a:t>Administrasi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